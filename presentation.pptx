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274320"/>
            <a:ext cx="1097280" cy="1097280"/>
          </a:xfrm>
          <a:prstGeom prst="ellipse">
            <a:avLst/>
          </a:prstGeom>
          <a:solidFill>
            <a:srgbClr val="0A0A0A"/>
          </a:solidFill>
          <a:ln w="38100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0FF00"/>
                </a:solidFill>
              </a:defRPr>
            </a:pPr>
            <a: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1417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00FF00"/>
                </a:solidFill>
              </a:defRPr>
            </a:pPr>
            <a:r>
              <a:t>DECRYPT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F00"/>
                </a:solidFill>
              </a:defRPr>
            </a:pPr>
            <a:r>
              <a:t>01/06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00FF00"/>
                </a:solidFill>
                <a:latin typeface="Courier New"/>
              </a:defRPr>
            </a:pPr>
            <a:r>
              <a:t>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FF00"/>
                </a:solidFill>
                <a:latin typeface="Courier New"/>
              </a:defRPr>
            </a:pPr>
            <a:r>
              <a:t>ACCESS GRANTED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33333"/>
                </a:solidFill>
                <a:latin typeface="Courier New"/>
              </a:defRPr>
            </a:pPr>
            <a:r>
              <a:t>████████</a:t>
            </a:r>
          </a:p>
        </p:txBody>
      </p:sp>
    </p:spTree>
  </p:cSld>
  <p:clrMapOvr>
    <a:masterClrMapping/>
  </p:clrMapOvr>
  <p:transition advTm="30000" advClick="0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274320"/>
            <a:ext cx="1097280" cy="1097280"/>
          </a:xfrm>
          <a:prstGeom prst="ellipse">
            <a:avLst/>
          </a:prstGeom>
          <a:solidFill>
            <a:srgbClr val="0A0A0A"/>
          </a:solidFill>
          <a:ln w="38100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0FF00"/>
                </a:solidFill>
              </a:defRPr>
            </a:pPr>
            <a: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1417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00FF00"/>
                </a:solidFill>
              </a:defRPr>
            </a:pPr>
            <a:r>
              <a:t>DECRYPT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F00"/>
                </a:solidFill>
              </a:defRPr>
            </a:pPr>
            <a:r>
              <a:t>02/06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FF00"/>
                </a:solidFill>
                <a:latin typeface="Courier New"/>
              </a:defRPr>
            </a:pPr>
            <a:r>
              <a:t>$150,000</a:t>
            </a:r>
          </a:p>
          <a:p>
            <a:pPr algn="ctr">
              <a:defRPr sz="1400">
                <a:solidFill>
                  <a:srgbClr val="00FF00"/>
                </a:solidFill>
              </a:defRPr>
            </a:pPr>
            <a:r>
              <a:t>HACKER PAID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0000"/>
                </a:solidFill>
                <a:latin typeface="Courier New"/>
              </a:defRPr>
            </a:pPr>
            <a:r>
              <a:t>$4,450,000</a:t>
            </a:r>
          </a:p>
          <a:p>
            <a:pPr algn="ctr">
              <a:defRPr sz="1400">
                <a:solidFill>
                  <a:srgbClr val="FF0000"/>
                </a:solidFill>
              </a:defRPr>
            </a:pPr>
            <a:r>
              <a:t>BREACH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FFFF"/>
                </a:solidFill>
                <a:latin typeface="Courier New"/>
              </a:defRPr>
            </a:pPr>
            <a:r>
              <a:t>30x SAVED</a:t>
            </a:r>
          </a:p>
        </p:txBody>
      </p:sp>
    </p:spTree>
  </p:cSld>
  <p:clrMapOvr>
    <a:masterClrMapping/>
  </p:clrMapOvr>
  <p:transition advTm="30000" advClick="0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274320"/>
            <a:ext cx="1097280" cy="1097280"/>
          </a:xfrm>
          <a:prstGeom prst="ellipse">
            <a:avLst/>
          </a:prstGeom>
          <a:solidFill>
            <a:srgbClr val="0A0A0A"/>
          </a:solidFill>
          <a:ln w="38100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0FF00"/>
                </a:solidFill>
              </a:defRPr>
            </a:pPr>
            <a: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1417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00FF00"/>
                </a:solidFill>
              </a:defRPr>
            </a:pPr>
            <a:r>
              <a:t>DECRYPT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F00"/>
                </a:solidFill>
              </a:defRPr>
            </a:pPr>
            <a:r>
              <a:t>03/06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00FF00"/>
                </a:solidFill>
                <a:latin typeface="Courier New"/>
              </a:defRPr>
            </a:pPr>
            <a:r>
              <a:t>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FF00"/>
                </a:solidFill>
                <a:latin typeface="Courier New"/>
              </a:defRPr>
            </a:pPr>
            <a:r>
              <a:t>USA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0000"/>
                </a:solidFill>
                <a:latin typeface="Courier New"/>
              </a:defRPr>
            </a:pPr>
            <a:r>
              <a:t>13:00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0000"/>
                </a:solidFill>
                <a:latin typeface="Courier New"/>
              </a:defRPr>
            </a:pPr>
            <a:r>
              <a:t>138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4572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00FF00"/>
                </a:solidFill>
                <a:latin typeface="Courier New"/>
              </a:defRPr>
            </a:pPr>
            <a:r>
              <a:t>HACK THE PENTAGON</a:t>
            </a:r>
          </a:p>
          <a:p>
            <a:pPr algn="r">
              <a:defRPr sz="1100">
                <a:solidFill>
                  <a:srgbClr val="00FF00"/>
                </a:solidFill>
                <a:latin typeface="Courier New"/>
              </a:defRPr>
            </a:pPr>
            <a:r>
              <a:t>1,410 ACTIVE</a:t>
            </a:r>
          </a:p>
        </p:txBody>
      </p:sp>
    </p:spTree>
  </p:cSld>
  <p:clrMapOvr>
    <a:masterClrMapping/>
  </p:clrMapOvr>
  <p:transition advTm="30000" advClick="0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274320"/>
            <a:ext cx="1097280" cy="1097280"/>
          </a:xfrm>
          <a:prstGeom prst="ellipse">
            <a:avLst/>
          </a:prstGeom>
          <a:solidFill>
            <a:srgbClr val="0A0A0A"/>
          </a:solidFill>
          <a:ln w="38100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0FF00"/>
                </a:solidFill>
              </a:defRPr>
            </a:pPr>
            <a: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1417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00FF00"/>
                </a:solidFill>
              </a:defRPr>
            </a:pPr>
            <a:r>
              <a:t>DECRYPT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F00"/>
                </a:solidFill>
              </a:defRPr>
            </a:pPr>
            <a:r>
              <a:t>04/06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914400"/>
            <a:ext cx="9144000" cy="5029200"/>
          </a:xfrm>
          <a:prstGeom prst="rect">
            <a:avLst/>
          </a:prstGeom>
          <a:solidFill>
            <a:srgbClr val="0C0C0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FF00"/>
                </a:solidFill>
                <a:latin typeface="Courier New"/>
              </a:defRPr>
            </a:pPr>
            <a:r>
              <a:t>┌──(hacker㉿kali)-[~/pentest]</a:t>
            </a:r>
          </a:p>
          <a:p>
            <a:pPr>
              <a:defRPr sz="1300">
                <a:solidFill>
                  <a:srgbClr val="FFFFFF"/>
                </a:solidFill>
                <a:latin typeface="Courier New"/>
              </a:defRPr>
            </a:pPr>
            <a:r>
              <a:t>└─$ nmap -sV -O 192.168.1.105</a:t>
            </a:r>
          </a:p>
          <a:p>
            <a:pPr>
              <a:defRPr sz="1300">
                <a:solidFill>
                  <a:srgbClr val="00FF00"/>
                </a:solidFill>
                <a:latin typeface="Courier New"/>
              </a:defRPr>
            </a:pPr>
            <a:r>
              <a:t>22/tcp  open  ssh    OpenSSH 8.2</a:t>
            </a:r>
          </a:p>
          <a:p>
            <a:pPr>
              <a:defRPr sz="1300">
                <a:solidFill>
                  <a:srgbClr val="FFFF00"/>
                </a:solidFill>
                <a:latin typeface="Courier New"/>
              </a:defRPr>
            </a:pPr>
            <a:r>
              <a:t>443/tcp open  https  VULNERABLE</a:t>
            </a:r>
          </a:p>
          <a:p>
            <a:pPr>
              <a:defRPr sz="1300">
                <a:solidFill>
                  <a:srgbClr val="FFFFFF"/>
                </a:solidFill>
                <a:latin typeface="Courier New"/>
              </a:defRPr>
            </a:pPr>
            <a:r>
              <a:t>└─$ sqlmap -u 'target/login?id=1' --dbs</a:t>
            </a:r>
          </a:p>
          <a:p>
            <a:pPr>
              <a:defRPr sz="1300">
                <a:solidFill>
                  <a:srgbClr val="FF0000"/>
                </a:solidFill>
                <a:latin typeface="Courier New"/>
              </a:defRPr>
            </a:pPr>
            <a:r>
              <a:t>[!] parameter id is vulnerable</a:t>
            </a:r>
          </a:p>
          <a:p>
            <a:pPr>
              <a:defRPr sz="1300">
                <a:solidFill>
                  <a:srgbClr val="00FF00"/>
                </a:solidFill>
                <a:latin typeface="Courier New"/>
              </a:defRPr>
            </a:pPr>
            <a:r>
              <a:t>[*] admin_db  [*] users  [*] credentials</a:t>
            </a:r>
          </a:p>
          <a:p>
            <a:pPr>
              <a:defRPr sz="1300">
                <a:solidFill>
                  <a:srgbClr val="FFFFFF"/>
                </a:solidFill>
                <a:latin typeface="Courier New"/>
              </a:defRPr>
            </a:pPr>
            <a:r>
              <a:t>└─$ python3 generate_report.py</a:t>
            </a:r>
          </a:p>
          <a:p>
            <a:pPr>
              <a:defRPr sz="1300">
                <a:solidFill>
                  <a:srgbClr val="00FFFF"/>
                </a:solidFill>
                <a:latin typeface="Courier New"/>
              </a:defRPr>
            </a:pPr>
            <a:r>
              <a:t>[✓] 14 vulnerabilities found</a:t>
            </a:r>
          </a:p>
          <a:p>
            <a:pPr>
              <a:defRPr sz="1300">
                <a:solidFill>
                  <a:srgbClr val="00FFFF"/>
                </a:solidFill>
                <a:latin typeface="Courier New"/>
              </a:defRPr>
            </a:pPr>
            <a:r>
              <a:t>[✓] Sent to: security@company.com</a:t>
            </a:r>
          </a:p>
        </p:txBody>
      </p:sp>
    </p:spTree>
  </p:cSld>
  <p:clrMapOvr>
    <a:masterClrMapping/>
  </p:clrMapOvr>
  <p:transition advTm="30000" advClick="0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274320"/>
            <a:ext cx="1097280" cy="1097280"/>
          </a:xfrm>
          <a:prstGeom prst="ellipse">
            <a:avLst/>
          </a:prstGeom>
          <a:solidFill>
            <a:srgbClr val="0A0A0A"/>
          </a:solidFill>
          <a:ln w="38100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0FF00"/>
                </a:solidFill>
              </a:defRPr>
            </a:pPr>
            <a: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1417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00FF00"/>
                </a:solidFill>
              </a:defRPr>
            </a:pPr>
            <a:r>
              <a:t>DECRYPT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F00"/>
                </a:solidFill>
              </a:defRPr>
            </a:pPr>
            <a:r>
              <a:t>05/06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FF00"/>
                </a:solidFill>
                <a:latin typeface="Courier New"/>
              </a:defRPr>
            </a:pPr>
            <a:r>
              <a:t>SKILL TREE — ETHICAL HACKER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50292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FF00"/>
                </a:solidFill>
                <a:latin typeface="Courier New"/>
              </a:defRPr>
            </a:pPr>
            <a:r>
              <a:t>🐧 LINUX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50292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FF00"/>
                </a:solidFill>
                <a:latin typeface="Courier New"/>
              </a:defRPr>
            </a:pPr>
            <a:r>
              <a:t>🐍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50292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FF00"/>
                </a:solidFill>
                <a:latin typeface="Courier New"/>
              </a:defRPr>
            </a:pPr>
            <a:r>
              <a:t>🌐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2004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FFFF"/>
                </a:solidFill>
                <a:latin typeface="Courier New"/>
              </a:defRPr>
            </a:pPr>
            <a:r>
              <a:t>🔓 CRYPTO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2004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FFFF"/>
                </a:solidFill>
                <a:latin typeface="Courier New"/>
              </a:defRPr>
            </a:pPr>
            <a:r>
              <a:t>💉 SQLi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2004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FFFF"/>
                </a:solidFill>
                <a:latin typeface="Courier New"/>
              </a:defRPr>
            </a:pPr>
            <a:r>
              <a:t>🛡️ FIREWALL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2004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FFFF"/>
                </a:solidFill>
                <a:latin typeface="Courier New"/>
              </a:defRPr>
            </a:pPr>
            <a:r>
              <a:t>📡 WIFI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3716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00FF"/>
                </a:solidFill>
                <a:latin typeface="Courier New"/>
              </a:defRPr>
            </a:pPr>
            <a:r>
              <a:t>🧬 MALWARE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3716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00FF"/>
                </a:solidFill>
                <a:latin typeface="Courier New"/>
              </a:defRPr>
            </a:pPr>
            <a:r>
              <a:t>🎯 PENTEST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3716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00FF"/>
                </a:solidFill>
                <a:latin typeface="Courier New"/>
              </a:defRPr>
            </a:pPr>
            <a:r>
              <a:t>💀 RED TEAM</a:t>
            </a:r>
          </a:p>
        </p:txBody>
      </p:sp>
    </p:spTree>
  </p:cSld>
  <p:clrMapOvr>
    <a:masterClrMapping/>
  </p:clrMapOvr>
  <p:transition advTm="30000" advClick="0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274320"/>
            <a:ext cx="1097280" cy="1097280"/>
          </a:xfrm>
          <a:prstGeom prst="ellipse">
            <a:avLst/>
          </a:prstGeom>
          <a:solidFill>
            <a:srgbClr val="0A0A0A"/>
          </a:solidFill>
          <a:ln w="38100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0FF00"/>
                </a:solidFill>
              </a:defRPr>
            </a:pPr>
            <a: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1417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00FF00"/>
                </a:solidFill>
              </a:defRPr>
            </a:pPr>
            <a:r>
              <a:t>DECRYPT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F00"/>
                </a:solidFill>
              </a:defRPr>
            </a:pPr>
            <a:r>
              <a:t>06/06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>
                <a:solidFill>
                  <a:srgbClr val="FF0000"/>
                </a:solidFill>
                <a:latin typeface="Courier New"/>
              </a:defRPr>
            </a:pPr>
            <a:r>
              <a:t>🚔</a:t>
            </a:r>
          </a:p>
          <a:p>
            <a:pPr algn="ctr">
              <a:defRPr sz="1600">
                <a:solidFill>
                  <a:srgbClr val="FF0000"/>
                </a:solidFill>
                <a:latin typeface="Courier New"/>
              </a:defRPr>
            </a:pPr>
          </a:p>
          <a:p>
            <a:pPr algn="ctr">
              <a:defRPr sz="1600">
                <a:solidFill>
                  <a:srgbClr val="FF0000"/>
                </a:solidFill>
                <a:latin typeface="Courier New"/>
              </a:defRPr>
            </a:pPr>
            <a:r>
              <a:t>⛓️  5+ YEARS PRISON</a:t>
            </a:r>
          </a:p>
          <a:p>
            <a:pPr algn="ctr">
              <a:defRPr sz="1600">
                <a:solidFill>
                  <a:srgbClr val="FF0000"/>
                </a:solidFill>
                <a:latin typeface="Courier New"/>
              </a:defRPr>
            </a:pPr>
            <a:r>
              <a:t>🚫  CRIMINAL RECORD</a:t>
            </a:r>
          </a:p>
          <a:p>
            <a:pPr algn="ctr">
              <a:defRPr sz="1600">
                <a:solidFill>
                  <a:srgbClr val="FF0000"/>
                </a:solidFill>
                <a:latin typeface="Courier New"/>
              </a:defRPr>
            </a:pPr>
            <a:r>
              <a:t>📵  NO INTERNET</a:t>
            </a:r>
          </a:p>
          <a:p>
            <a:pPr algn="ctr">
              <a:defRPr sz="1600">
                <a:solidFill>
                  <a:srgbClr val="FF0000"/>
                </a:solidFill>
                <a:latin typeface="Courier New"/>
              </a:defRPr>
            </a:pPr>
            <a:r>
              <a:t>💀  DESTROYED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9144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>
                <a:solidFill>
                  <a:srgbClr val="00FF00"/>
                </a:solidFill>
                <a:latin typeface="Courier New"/>
              </a:defRPr>
            </a:pPr>
            <a:r>
              <a:t>💻</a:t>
            </a:r>
          </a:p>
          <a:p>
            <a:pPr algn="ctr">
              <a:defRPr sz="1600">
                <a:solidFill>
                  <a:srgbClr val="00FF00"/>
                </a:solidFill>
                <a:latin typeface="Courier New"/>
              </a:defRPr>
            </a:pPr>
          </a:p>
          <a:p>
            <a:pPr algn="ctr">
              <a:defRPr sz="1600">
                <a:solidFill>
                  <a:srgbClr val="00FF00"/>
                </a:solidFill>
                <a:latin typeface="Courier New"/>
              </a:defRPr>
            </a:pPr>
            <a:r>
              <a:t>💰  $96K — $220K+</a:t>
            </a:r>
          </a:p>
          <a:p>
            <a:pPr algn="ctr">
              <a:defRPr sz="1600">
                <a:solidFill>
                  <a:srgbClr val="00FF00"/>
                </a:solidFill>
                <a:latin typeface="Courier New"/>
              </a:defRPr>
            </a:pPr>
            <a:r>
              <a:t>🌍  WORK ANYWHERE</a:t>
            </a:r>
          </a:p>
          <a:p>
            <a:pPr algn="ctr">
              <a:defRPr sz="1600">
                <a:solidFill>
                  <a:srgbClr val="00FF00"/>
                </a:solidFill>
                <a:latin typeface="Courier New"/>
              </a:defRPr>
            </a:pPr>
            <a:r>
              <a:t>🏆  BUG BOUNTIES</a:t>
            </a:r>
          </a:p>
          <a:p>
            <a:pPr algn="ctr">
              <a:defRPr sz="1600">
                <a:solidFill>
                  <a:srgbClr val="00FF00"/>
                </a:solidFill>
                <a:latin typeface="Courier New"/>
              </a:defRPr>
            </a:pPr>
            <a:r>
              <a:t>🚀  33% GROWTH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0" y="457200"/>
            <a:ext cx="45720" cy="59436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Tm="30000" advClick="0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